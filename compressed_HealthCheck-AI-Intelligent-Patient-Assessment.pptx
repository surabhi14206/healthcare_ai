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Geist"/>
      <p:regular r:id="rId18"/>
    </p:embeddedFont>
    <p:embeddedFont>
      <p:font typeface="Geist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urabhi-yadav-5155a3258" TargetMode="External"/><Relationship Id="rId3" Type="http://schemas.openxmlformats.org/officeDocument/2006/relationships/hyperlink" Target="https://github.com/surabhi14206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slideLayout" Target="../slideLayouts/slideLayout8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053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HealthCheck AI — Intelligent Patient Assessment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87834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insights and diagnostics support for clinicians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441912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Name: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Surabhi Yadav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95990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5500687"/>
            <a:ext cx="1992035" cy="388382"/>
          </a:xfrm>
          <a:prstGeom prst="roundRect">
            <a:avLst>
              <a:gd name="adj" fmla="val 36794"/>
            </a:avLst>
          </a:prstGeom>
          <a:noFill/>
          <a:ln w="7620">
            <a:solidFill>
              <a:srgbClr val="0067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0472" y="5567839"/>
            <a:ext cx="173867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CLINICAL AI PLATFORM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885003" y="5500687"/>
            <a:ext cx="1665327" cy="388382"/>
          </a:xfrm>
          <a:prstGeom prst="roundRect">
            <a:avLst>
              <a:gd name="adj" fmla="val 36794"/>
            </a:avLst>
          </a:prstGeom>
          <a:noFill/>
          <a:ln w="7620">
            <a:solidFill>
              <a:srgbClr val="0067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11686" y="5567839"/>
            <a:ext cx="141196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ML/NLP POWERED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31532"/>
            <a:ext cx="6100405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The Problem We're Solving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280190" y="1630799"/>
            <a:ext cx="7556421" cy="1321237"/>
          </a:xfrm>
          <a:prstGeom prst="roundRect">
            <a:avLst>
              <a:gd name="adj" fmla="val 8305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57330" y="1630799"/>
            <a:ext cx="91440" cy="1321237"/>
          </a:xfrm>
          <a:prstGeom prst="roundRect">
            <a:avLst>
              <a:gd name="adj" fmla="val 175814"/>
            </a:avLst>
          </a:prstGeom>
          <a:solidFill>
            <a:srgbClr val="006747"/>
          </a:solidFill>
          <a:ln/>
        </p:spPr>
      </p:sp>
      <p:sp>
        <p:nvSpPr>
          <p:cNvPr id="6" name="Text 3"/>
          <p:cNvSpPr/>
          <p:nvPr/>
        </p:nvSpPr>
        <p:spPr>
          <a:xfrm>
            <a:off x="6550223" y="183225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Clinician Overload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50223" y="2207657"/>
            <a:ext cx="708493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Clinicians face mounting workloads and intense time pressure when reviewing patient histories, lab results, and clinical documents — leaving little room for deep analysis.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80190" y="3112770"/>
            <a:ext cx="7556421" cy="1321237"/>
          </a:xfrm>
          <a:prstGeom prst="roundRect">
            <a:avLst>
              <a:gd name="adj" fmla="val 8305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57330" y="3112770"/>
            <a:ext cx="91440" cy="1321237"/>
          </a:xfrm>
          <a:prstGeom prst="roundRect">
            <a:avLst>
              <a:gd name="adj" fmla="val 175814"/>
            </a:avLst>
          </a:prstGeom>
          <a:solidFill>
            <a:srgbClr val="006747"/>
          </a:solidFill>
          <a:ln/>
        </p:spPr>
      </p:sp>
      <p:sp>
        <p:nvSpPr>
          <p:cNvPr id="10" name="Text 7"/>
          <p:cNvSpPr/>
          <p:nvPr/>
        </p:nvSpPr>
        <p:spPr>
          <a:xfrm>
            <a:off x="6550223" y="3314224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Missed Patterns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550223" y="3689628"/>
            <a:ext cx="708493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Critical patterns buried in patient data are frequently overlooked or take too long to surface through manual review, increasing the risk of diagnostic errors.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80190" y="4594741"/>
            <a:ext cx="7556421" cy="1321237"/>
          </a:xfrm>
          <a:prstGeom prst="roundRect">
            <a:avLst>
              <a:gd name="adj" fmla="val 8305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7330" y="4594741"/>
            <a:ext cx="91440" cy="1321237"/>
          </a:xfrm>
          <a:prstGeom prst="roundRect">
            <a:avLst>
              <a:gd name="adj" fmla="val 175814"/>
            </a:avLst>
          </a:prstGeom>
          <a:solidFill>
            <a:srgbClr val="006747"/>
          </a:solidFill>
          <a:ln/>
        </p:spPr>
      </p:sp>
      <p:sp>
        <p:nvSpPr>
          <p:cNvPr id="14" name="Text 11"/>
          <p:cNvSpPr/>
          <p:nvPr/>
        </p:nvSpPr>
        <p:spPr>
          <a:xfrm>
            <a:off x="6550223" y="4796195"/>
            <a:ext cx="292119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Inconsistent Assessments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550223" y="5171599"/>
            <a:ext cx="708493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Manual, siloed workflows lead to delayed or inconsistent patient assessments — creating variability in care quality that can directly impact patient outcomes.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80190" y="6076712"/>
            <a:ext cx="7556421" cy="1321237"/>
          </a:xfrm>
          <a:prstGeom prst="roundRect">
            <a:avLst>
              <a:gd name="adj" fmla="val 8305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57330" y="6076712"/>
            <a:ext cx="91440" cy="1321237"/>
          </a:xfrm>
          <a:prstGeom prst="roundRect">
            <a:avLst>
              <a:gd name="adj" fmla="val 175814"/>
            </a:avLst>
          </a:prstGeom>
          <a:solidFill>
            <a:srgbClr val="006747"/>
          </a:solidFill>
          <a:ln/>
        </p:spPr>
      </p:sp>
      <p:sp>
        <p:nvSpPr>
          <p:cNvPr id="18" name="Text 15"/>
          <p:cNvSpPr/>
          <p:nvPr/>
        </p:nvSpPr>
        <p:spPr>
          <a:xfrm>
            <a:off x="6550223" y="6278166"/>
            <a:ext cx="2341364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No Intelligent Triage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550223" y="6653570"/>
            <a:ext cx="708493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There is no assistive layer to automatically summarize, prioritize, and highlight actionable findings — leaving clinicians to do this work entirely on their own.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1456"/>
            <a:ext cx="713005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Introducing HealthCheck AI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3836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HealthCheck AI automates clinical document analysis and patient assessment workflows using state-of-the-art machine learning and natural language processing — delivering concise, explainable insights directly to clinicians at the point of care.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996690"/>
            <a:ext cx="4215289" cy="2111335"/>
          </a:xfrm>
          <a:prstGeom prst="roundRect">
            <a:avLst>
              <a:gd name="adj" fmla="val 846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768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Accelerate Review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4631888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Dramatically reduce time spent reading through medical records and patient histories by surfacing the most relevant findings instantly.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996690"/>
            <a:ext cx="4215408" cy="2111335"/>
          </a:xfrm>
          <a:prstGeom prst="roundRect">
            <a:avLst>
              <a:gd name="adj" fmla="val 846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3415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Smarter Triage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13415" y="4631888"/>
            <a:ext cx="380345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Improve prioritization by automatically scoring and ranking cases based on clinical urgency and diagnostic indicators.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996690"/>
            <a:ext cx="4215289" cy="2111335"/>
          </a:xfrm>
          <a:prstGeom prst="roundRect">
            <a:avLst>
              <a:gd name="adj" fmla="val 846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7181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Explainable AI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7181" y="4631888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insight is backed by traceable, auditable reasoning — keeping clinicians informed and in control of every decision.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078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Core Features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617702"/>
            <a:ext cx="676394" cy="6763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8191" y="1617702"/>
            <a:ext cx="215026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Document Ingestion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718191" y="2357080"/>
            <a:ext cx="2150269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Accepts medical records, PDFs, and structured clinical reports from multiple sources — including manual uploads and EHR integrations.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467" y="1617702"/>
            <a:ext cx="676394" cy="6763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40868" y="1617702"/>
            <a:ext cx="215026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NLP Summarization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040868" y="2357080"/>
            <a:ext cx="2150269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Extracts key findings, symptoms, medications, dosages, and clinical timelines from unstructured text using transformer-based NLP models.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144" y="1617702"/>
            <a:ext cx="676394" cy="6763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63545" y="1617702"/>
            <a:ext cx="215026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Diagnostic Suggestions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8363545" y="2357080"/>
            <a:ext cx="2150269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Generates likely diagnoses ranked by confidence scores, giving clinicians a data-driven starting point while preserving their clinical judgment.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1821" y="1617702"/>
            <a:ext cx="676394" cy="6763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686223" y="1617702"/>
            <a:ext cx="215038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Patient Dashboard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1686223" y="2357080"/>
            <a:ext cx="2150388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Aggregates full patient history, AI assessments, and follow-up reminders in a single, clean interface designed for fast clinical review.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76693"/>
            <a:ext cx="676394" cy="67639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18191" y="4976693"/>
            <a:ext cx="21502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Audit Logs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718191" y="5405914"/>
            <a:ext cx="2150269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Comprehensive logs track every AI output viewed, reviewed, and acted upon by clinicians — ensuring full traceability and compliance readiness.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4757"/>
            <a:ext cx="859214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Tech Stack — High Level Overview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2782491"/>
            <a:ext cx="6565106" cy="3582233"/>
          </a:xfrm>
          <a:prstGeom prst="roundRect">
            <a:avLst>
              <a:gd name="adj" fmla="val 7978"/>
            </a:avLst>
          </a:prstGeom>
          <a:solidFill>
            <a:srgbClr val="00674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2980849"/>
            <a:ext cx="32263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Backend &amp; Infrastructure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49273" y="3623370"/>
            <a:ext cx="99179" cy="99179"/>
          </a:xfrm>
          <a:prstGeom prst="roundRect">
            <a:avLst>
              <a:gd name="adj" fmla="val 460985"/>
            </a:avLst>
          </a:prstGeom>
          <a:solidFill>
            <a:srgbClr val="006747"/>
          </a:solidFill>
          <a:ln/>
        </p:spPr>
      </p:sp>
      <p:sp>
        <p:nvSpPr>
          <p:cNvPr id="6" name="Text 4"/>
          <p:cNvSpPr/>
          <p:nvPr/>
        </p:nvSpPr>
        <p:spPr>
          <a:xfrm>
            <a:off x="1146810" y="3514249"/>
            <a:ext cx="26625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Backend: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Django 6.0 (Python) — routing, APIs, user management, and templates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057412" y="3623370"/>
            <a:ext cx="99179" cy="99179"/>
          </a:xfrm>
          <a:prstGeom prst="roundRect">
            <a:avLst>
              <a:gd name="adj" fmla="val 460985"/>
            </a:avLst>
          </a:prstGeom>
          <a:solidFill>
            <a:srgbClr val="006747"/>
          </a:solidFill>
          <a:ln/>
        </p:spPr>
      </p:sp>
      <p:sp>
        <p:nvSpPr>
          <p:cNvPr id="8" name="Text 6"/>
          <p:cNvSpPr/>
          <p:nvPr/>
        </p:nvSpPr>
        <p:spPr>
          <a:xfrm>
            <a:off x="4354949" y="3514249"/>
            <a:ext cx="266271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Database: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SQLite for development; PostgreSQL recommended for production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9273" y="4972824"/>
            <a:ext cx="99179" cy="99179"/>
          </a:xfrm>
          <a:prstGeom prst="roundRect">
            <a:avLst>
              <a:gd name="adj" fmla="val 460985"/>
            </a:avLst>
          </a:prstGeom>
          <a:solidFill>
            <a:srgbClr val="006747"/>
          </a:solidFill>
          <a:ln/>
        </p:spPr>
      </p:sp>
      <p:sp>
        <p:nvSpPr>
          <p:cNvPr id="10" name="Text 8"/>
          <p:cNvSpPr/>
          <p:nvPr/>
        </p:nvSpPr>
        <p:spPr>
          <a:xfrm>
            <a:off x="1146810" y="4863703"/>
            <a:ext cx="26625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Deployment: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Docker, Gunicorn, Nginx — containerized and production-ready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057412" y="4972824"/>
            <a:ext cx="99179" cy="99179"/>
          </a:xfrm>
          <a:prstGeom prst="roundRect">
            <a:avLst>
              <a:gd name="adj" fmla="val 460985"/>
            </a:avLst>
          </a:prstGeom>
          <a:solidFill>
            <a:srgbClr val="006747"/>
          </a:solidFill>
          <a:ln/>
        </p:spPr>
      </p:sp>
      <p:sp>
        <p:nvSpPr>
          <p:cNvPr id="12" name="Text 10"/>
          <p:cNvSpPr/>
          <p:nvPr/>
        </p:nvSpPr>
        <p:spPr>
          <a:xfrm>
            <a:off x="4354949" y="4863703"/>
            <a:ext cx="2662714" cy="1277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Storage: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Local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0D745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media/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development; AWS S3 for production document storage(suggested)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29808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AI / ML &amp; Frontend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564874" y="3623370"/>
            <a:ext cx="99179" cy="99179"/>
          </a:xfrm>
          <a:prstGeom prst="roundRect">
            <a:avLst>
              <a:gd name="adj" fmla="val 460985"/>
            </a:avLst>
          </a:prstGeom>
          <a:solidFill>
            <a:srgbClr val="006747"/>
          </a:solidFill>
          <a:ln/>
        </p:spPr>
      </p:sp>
      <p:sp>
        <p:nvSpPr>
          <p:cNvPr id="15" name="Text 13"/>
          <p:cNvSpPr/>
          <p:nvPr/>
        </p:nvSpPr>
        <p:spPr>
          <a:xfrm>
            <a:off x="7862411" y="3514249"/>
            <a:ext cx="271807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NLP/ML: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Hugging Face transformer models, custom fine-tuned models, Ollama/Gemma integrations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10828496" y="3623370"/>
            <a:ext cx="99179" cy="99179"/>
          </a:xfrm>
          <a:prstGeom prst="roundRect">
            <a:avLst>
              <a:gd name="adj" fmla="val 460985"/>
            </a:avLst>
          </a:prstGeom>
          <a:solidFill>
            <a:srgbClr val="006747"/>
          </a:solidFill>
          <a:ln/>
        </p:spPr>
      </p:sp>
      <p:sp>
        <p:nvSpPr>
          <p:cNvPr id="17" name="Text 15"/>
          <p:cNvSpPr/>
          <p:nvPr/>
        </p:nvSpPr>
        <p:spPr>
          <a:xfrm>
            <a:off x="11126033" y="3514249"/>
            <a:ext cx="271819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Frontend: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Django Templates + Bootstrap — responsive and accessible clinical UI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564874" y="5290364"/>
            <a:ext cx="99179" cy="99179"/>
          </a:xfrm>
          <a:prstGeom prst="roundRect">
            <a:avLst>
              <a:gd name="adj" fmla="val 460985"/>
            </a:avLst>
          </a:prstGeom>
          <a:solidFill>
            <a:srgbClr val="006747"/>
          </a:solidFill>
          <a:ln/>
        </p:spPr>
      </p:sp>
      <p:sp>
        <p:nvSpPr>
          <p:cNvPr id="19" name="Text 17"/>
          <p:cNvSpPr/>
          <p:nvPr/>
        </p:nvSpPr>
        <p:spPr>
          <a:xfrm>
            <a:off x="7862411" y="5181243"/>
            <a:ext cx="271807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Background Tasks: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Celery workers for long-running ML analysis jobs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0828496" y="5290364"/>
            <a:ext cx="99179" cy="99179"/>
          </a:xfrm>
          <a:prstGeom prst="roundRect">
            <a:avLst>
              <a:gd name="adj" fmla="val 460985"/>
            </a:avLst>
          </a:prstGeom>
          <a:solidFill>
            <a:srgbClr val="006747"/>
          </a:solidFill>
          <a:ln/>
        </p:spPr>
      </p:sp>
      <p:sp>
        <p:nvSpPr>
          <p:cNvPr id="21" name="Text 19"/>
          <p:cNvSpPr/>
          <p:nvPr/>
        </p:nvSpPr>
        <p:spPr>
          <a:xfrm>
            <a:off x="11126033" y="5181243"/>
            <a:ext cx="271819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Monitoring: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Sentry for error tracking; Prometheus for performance metrics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7517"/>
            <a:ext cx="953428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Technology Details — Under the Hood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04430"/>
            <a:ext cx="6422231" cy="2419588"/>
          </a:xfrm>
          <a:prstGeom prst="roundRect">
            <a:avLst>
              <a:gd name="adj" fmla="val 7383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2127290"/>
            <a:ext cx="6376511" cy="595313"/>
          </a:xfrm>
          <a:prstGeom prst="roundRect">
            <a:avLst>
              <a:gd name="adj" fmla="val 25398"/>
            </a:avLst>
          </a:prstGeom>
          <a:solidFill>
            <a:srgbClr val="D1EFE4"/>
          </a:solidFill>
          <a:ln/>
        </p:spPr>
      </p:sp>
      <p:sp>
        <p:nvSpPr>
          <p:cNvPr id="5" name="Text 3"/>
          <p:cNvSpPr/>
          <p:nvPr/>
        </p:nvSpPr>
        <p:spPr>
          <a:xfrm>
            <a:off x="3856077" y="223504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15008" y="29209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Django Framework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15008" y="3350181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Handles user authentication, role-based access, URL routing, API endpoints, and server-side rendered templates for a unified application layer.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2104430"/>
            <a:ext cx="6422231" cy="2419588"/>
          </a:xfrm>
          <a:prstGeom prst="roundRect">
            <a:avLst>
              <a:gd name="adj" fmla="val 7383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37239" y="2127290"/>
            <a:ext cx="6376511" cy="595313"/>
          </a:xfrm>
          <a:prstGeom prst="roundRect">
            <a:avLst>
              <a:gd name="adj" fmla="val 25398"/>
            </a:avLst>
          </a:prstGeom>
          <a:solidFill>
            <a:srgbClr val="D1EFE4"/>
          </a:solidFill>
          <a:ln/>
        </p:spPr>
      </p:sp>
      <p:sp>
        <p:nvSpPr>
          <p:cNvPr id="10" name="Text 8"/>
          <p:cNvSpPr/>
          <p:nvPr/>
        </p:nvSpPr>
        <p:spPr>
          <a:xfrm>
            <a:off x="10476667" y="223504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635597" y="29209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Celery Workers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35597" y="3350181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Asynchronous task queues manage long-running NLP analysis jobs, ensuring the UI remains responsive while heavy ML inference runs in the background.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4722376"/>
            <a:ext cx="6422231" cy="2419588"/>
          </a:xfrm>
          <a:prstGeom prst="roundRect">
            <a:avLst>
              <a:gd name="adj" fmla="val 7383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6650" y="4745236"/>
            <a:ext cx="6376511" cy="595313"/>
          </a:xfrm>
          <a:prstGeom prst="roundRect">
            <a:avLst>
              <a:gd name="adj" fmla="val 25398"/>
            </a:avLst>
          </a:prstGeom>
          <a:solidFill>
            <a:srgbClr val="D1EFE4"/>
          </a:solidFill>
          <a:ln/>
        </p:spPr>
      </p:sp>
      <p:sp>
        <p:nvSpPr>
          <p:cNvPr id="15" name="Text 13"/>
          <p:cNvSpPr/>
          <p:nvPr/>
        </p:nvSpPr>
        <p:spPr>
          <a:xfrm>
            <a:off x="3856077" y="485298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15008" y="55389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NLP Models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15008" y="5968127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Transformer-based models (BERT, BioMedBERT, Gemma) handle summarization, named entity recognition, and diagnostic inference from clinical text.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4722376"/>
            <a:ext cx="6422231" cy="2419588"/>
          </a:xfrm>
          <a:prstGeom prst="roundRect">
            <a:avLst>
              <a:gd name="adj" fmla="val 7383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7239" y="4745236"/>
            <a:ext cx="6376511" cy="595313"/>
          </a:xfrm>
          <a:prstGeom prst="roundRect">
            <a:avLst>
              <a:gd name="adj" fmla="val 25398"/>
            </a:avLst>
          </a:prstGeom>
          <a:solidFill>
            <a:srgbClr val="D1EFE4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6667" y="485298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4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635597" y="55389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Document Parsing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635597" y="5968127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PDF and DOCX parsers extract structured text; integrated OCR handles scanned or low-quality clinical documents with high fidelity.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8434"/>
            <a:ext cx="82815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System Architecture &amp; Data Flow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625" y="1825347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4546" y="3032073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22936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Clinician Review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7120" y="3033295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41277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Persist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0307" y="3033295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41277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Analyze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3493" y="3033295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41277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Preprocess</a:t>
            </a:r>
            <a:endParaRPr lang="en-US" sz="2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3636" y="3033295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41277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Ingest</a:t>
            </a:r>
            <a:endParaRPr lang="en-US" sz="2300" dirty="0"/>
          </a:p>
        </p:txBody>
      </p:sp>
      <p:sp>
        <p:nvSpPr>
          <p:cNvPr id="14" name="Text 6"/>
          <p:cNvSpPr/>
          <p:nvPr/>
        </p:nvSpPr>
        <p:spPr>
          <a:xfrm>
            <a:off x="793790" y="678608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document entering HealthCheck AI follows a structured, auditable pipeline — from raw ingestion through intelligent analysis to clinician-verified output. Each step is logged, traceable, and designed for seamless integration into existing clinical workflows.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5211"/>
            <a:ext cx="8005286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System Users &amp; Role Architecture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1682472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HealthCheck AI uses a custom user model with four distinct role types, each tailored to a specific function within the clinical or administrative workflow.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93790" y="2472333"/>
            <a:ext cx="6431875" cy="2421493"/>
          </a:xfrm>
          <a:prstGeom prst="roundRect">
            <a:avLst>
              <a:gd name="adj" fmla="val 700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9886" y="2668429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00674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5381" y="2823924"/>
            <a:ext cx="254437" cy="25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9886" y="3413046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Super Admin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89886" y="3815120"/>
            <a:ext cx="6039683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Highest-level system authority. Controls global configurations, system-wide settings, and corresponds to Django's built-in superuser role.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404735" y="2472333"/>
            <a:ext cx="6431875" cy="2421493"/>
          </a:xfrm>
          <a:prstGeom prst="roundRect">
            <a:avLst>
              <a:gd name="adj" fmla="val 700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00831" y="2668429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00674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6327" y="2823924"/>
            <a:ext cx="254437" cy="25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0831" y="3413046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Admin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7600831" y="3815120"/>
            <a:ext cx="6039683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Manages hospital or clinic-level operations, oversees user onboarding, and configures system-wide data parameters and access policies.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93790" y="5072896"/>
            <a:ext cx="6431875" cy="2421493"/>
          </a:xfrm>
          <a:prstGeom prst="roundRect">
            <a:avLst>
              <a:gd name="adj" fmla="val 700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9886" y="5268992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00674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5381" y="5424488"/>
            <a:ext cx="254437" cy="25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9886" y="6013609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Doctor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989886" y="6415683"/>
            <a:ext cx="6039683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primary clinical user. Reviews AI-generated patient insights, validates diagnostic suggestions, and finalizes assessments within their purview.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7404735" y="5072896"/>
            <a:ext cx="6431875" cy="2421493"/>
          </a:xfrm>
          <a:prstGeom prst="roundRect">
            <a:avLst>
              <a:gd name="adj" fmla="val 700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00831" y="5268992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00674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6327" y="5424488"/>
            <a:ext cx="254437" cy="2544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00831" y="6013609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Patient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7600831" y="6415683"/>
            <a:ext cx="6039683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end-user of the patient-facing portal. Accesses their own health dashboard, medical history, and assessment summaries in a secure, read-only view.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116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Conclusion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1638895"/>
            <a:ext cx="7556421" cy="1824276"/>
          </a:xfrm>
          <a:prstGeom prst="roundRect">
            <a:avLst>
              <a:gd name="adj" fmla="val 6015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57330" y="1638895"/>
            <a:ext cx="91440" cy="1824276"/>
          </a:xfrm>
          <a:prstGeom prst="roundRect">
            <a:avLst>
              <a:gd name="adj" fmla="val 195349"/>
            </a:avLst>
          </a:prstGeom>
          <a:solidFill>
            <a:srgbClr val="006747"/>
          </a:solidFill>
          <a:ln/>
        </p:spPr>
      </p:sp>
      <p:sp>
        <p:nvSpPr>
          <p:cNvPr id="6" name="Text 3"/>
          <p:cNvSpPr/>
          <p:nvPr/>
        </p:nvSpPr>
        <p:spPr>
          <a:xfrm>
            <a:off x="6569988" y="1860113"/>
            <a:ext cx="38384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Faster, More Accurate Reviews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569988" y="2289334"/>
            <a:ext cx="7045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HealthCheck AI significantly reduces the time clinicians spend reviewing patient histories and documents — surfacing critical findings faster and reducing the risk of oversight.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280190" y="3661529"/>
            <a:ext cx="7556421" cy="1824276"/>
          </a:xfrm>
          <a:prstGeom prst="roundRect">
            <a:avLst>
              <a:gd name="adj" fmla="val 6015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57330" y="3661529"/>
            <a:ext cx="91440" cy="1824276"/>
          </a:xfrm>
          <a:prstGeom prst="roundRect">
            <a:avLst>
              <a:gd name="adj" fmla="val 195349"/>
            </a:avLst>
          </a:prstGeom>
          <a:solidFill>
            <a:srgbClr val="006747"/>
          </a:solidFill>
          <a:ln/>
        </p:spPr>
      </p:sp>
      <p:sp>
        <p:nvSpPr>
          <p:cNvPr id="10" name="Text 7"/>
          <p:cNvSpPr/>
          <p:nvPr/>
        </p:nvSpPr>
        <p:spPr>
          <a:xfrm>
            <a:off x="6569988" y="3882747"/>
            <a:ext cx="41159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Augmentation, Not Replacement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569988" y="4311968"/>
            <a:ext cx="7045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system is designed as a clinical co-pilot. It enhances and supports clinician decision-making, preserving human judgment at every step of the diagnostic process.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280190" y="5684163"/>
            <a:ext cx="7556421" cy="1824276"/>
          </a:xfrm>
          <a:prstGeom prst="roundRect">
            <a:avLst>
              <a:gd name="adj" fmla="val 6015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7330" y="5684163"/>
            <a:ext cx="91440" cy="1824276"/>
          </a:xfrm>
          <a:prstGeom prst="roundRect">
            <a:avLst>
              <a:gd name="adj" fmla="val 195349"/>
            </a:avLst>
          </a:prstGeom>
          <a:solidFill>
            <a:srgbClr val="006747"/>
          </a:solidFill>
          <a:ln/>
        </p:spPr>
      </p:sp>
      <p:sp>
        <p:nvSpPr>
          <p:cNvPr id="14" name="Text 11"/>
          <p:cNvSpPr/>
          <p:nvPr/>
        </p:nvSpPr>
        <p:spPr>
          <a:xfrm>
            <a:off x="6569988" y="5905381"/>
            <a:ext cx="35460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Built for Trust &amp; Integration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569988" y="6334601"/>
            <a:ext cx="7045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Explainability, traceability, and audit-readiness are core to the system's architecture — making it straightforward to integrate into existing clinical and compliance workflows.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414"/>
            <a:ext cx="63599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Future Scope &amp; Roadmap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303770" y="1660327"/>
            <a:ext cx="22860" cy="5925860"/>
          </a:xfrm>
          <a:prstGeom prst="roundRect">
            <a:avLst>
              <a:gd name="adj" fmla="val 781396"/>
            </a:avLst>
          </a:prstGeom>
          <a:solidFill>
            <a:srgbClr val="B7D5CA"/>
          </a:solidFill>
          <a:ln/>
        </p:spPr>
      </p:sp>
      <p:sp>
        <p:nvSpPr>
          <p:cNvPr id="4" name="Shape 2"/>
          <p:cNvSpPr/>
          <p:nvPr/>
        </p:nvSpPr>
        <p:spPr>
          <a:xfrm>
            <a:off x="6519505" y="1872139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7D5CA"/>
          </a:solidFill>
          <a:ln/>
        </p:spPr>
      </p:sp>
      <p:sp>
        <p:nvSpPr>
          <p:cNvPr id="5" name="Shape 3"/>
          <p:cNvSpPr/>
          <p:nvPr/>
        </p:nvSpPr>
        <p:spPr>
          <a:xfrm>
            <a:off x="7091958" y="1660327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6372" y="169753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842028" y="17285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EHR Integration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2157770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Direct ingestion from major EHR platforms (Epic, Cerner) via HL7 FHIR APIs for seamless, real-time data access.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15582" y="3062764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7D5CA"/>
          </a:solidFill>
          <a:ln/>
        </p:spPr>
      </p:sp>
      <p:sp>
        <p:nvSpPr>
          <p:cNvPr id="10" name="Shape 8"/>
          <p:cNvSpPr/>
          <p:nvPr/>
        </p:nvSpPr>
        <p:spPr>
          <a:xfrm>
            <a:off x="7091958" y="2850952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6372" y="2888159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307467" y="29191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Model Refinement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307467" y="3348395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Improved model calibration through localized clinical fine-tuning — adapting to specialty-specific terminology and regional diagnostic patterns.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19505" y="4089083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7D5C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1958" y="3877270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6372" y="391447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449241" y="3945493"/>
            <a:ext cx="287369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Multi-Language &amp; OCR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4374713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Expanded language support and enhanced OCR pipelines to handle low-quality, handwritten, or non-English clinical documents with greater accuracy.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15582" y="5115520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7D5CA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1958" y="4903708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6372" y="494091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307467" y="4971931"/>
            <a:ext cx="31043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Clinician Feedback Loop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307467" y="5401151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continuous learning mechanism where clinician edits and corrections are fed back into model training to improve precision over time.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19505" y="6141958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7D5CA"/>
          </a:solidFill>
          <a:ln/>
        </p:spPr>
      </p:sp>
      <p:sp>
        <p:nvSpPr>
          <p:cNvPr id="25" name="Shape 23"/>
          <p:cNvSpPr/>
          <p:nvPr/>
        </p:nvSpPr>
        <p:spPr>
          <a:xfrm>
            <a:off x="7091958" y="5930146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66372" y="596735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5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3842028" y="59983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HIPAA Compliance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93790" y="6427589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 HIPAA-compliant deployment architecture with role-based access controls, data encryption at rest and in transit, and BAA-ready infrastructure.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8804"/>
            <a:ext cx="58812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Appendix &amp; References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2776538"/>
            <a:ext cx="6565106" cy="3594259"/>
          </a:xfrm>
          <a:prstGeom prst="roundRect">
            <a:avLst>
              <a:gd name="adj" fmla="val 7952"/>
            </a:avLst>
          </a:prstGeom>
          <a:solidFill>
            <a:srgbClr val="00674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29748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Project Repository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3483412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full source code for HealthCheck AI is available in the project repository: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9273" y="4297085"/>
            <a:ext cx="616839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/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0D745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healthcheck_ai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9273" y="4800838"/>
            <a:ext cx="6168390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Core modules include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0D745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(authentication &amp; profiles),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0D745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diagnoses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(assessment logic), and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0D745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(primary routing and configuration).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2974896"/>
            <a:ext cx="30135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References &amp; Resources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64874" y="3483412"/>
            <a:ext cx="6279356" cy="2817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Clinical practice guidelines and diagnostic reference standards used for model validation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Anonymized and de-identified sample patient datasets for development and testing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Hugging Face model cards for all integrated transformer-based NLP models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HIPAA Security Rule technical safeguards documentation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HL7 FHIR R4 API specification for future EHR integration planning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2026-02-26T21:57:50Z</dcterms:created>
  <dcterms:modified xsi:type="dcterms:W3CDTF">2026-02-26T21:57:50Z</dcterms:modified>
</cp:coreProperties>
</file>